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11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EDE5-3AF5-88AC-01C7-DC711F30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F3605-45DF-C66B-6D60-DDC2E33FE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CF90D-F4F3-C2B7-56D9-92F40A5B0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572DE-F4BF-81C4-FC59-961D55608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7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CDC NNDSS Weekly Surveillance Prototype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370"/>
            <a:ext cx="11155680" cy="1101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BigQuery curation + coverage gating → Tableau dashboard</a:t>
            </a:r>
          </a:p>
          <a:p>
            <a:pPr marL="0" indent="0">
              <a:buNone/>
            </a:pPr>
            <a:r>
              <a:rPr lang="en-US" sz="2000" dirty="0"/>
              <a:t>Portfolio Project/Resume March 2026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Anthony Mounts, MPH, MS OSH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Built a CDC NNDSS weekly surveillance prototype (BigQuery pipeline + Tableau dashboard).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Fixed mixed-grain geography: restricted to U.S. states + Washington, D.C.; added trend eligibility metrics (trend mode, weeks observed, reporting recency).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Delivered two views: (A) weekly trend compared with other states’ average, (B) latest-week map with coverage/validity flags.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Recommendation: interpret direction using a 4-week moving average; separate a trend watchlist from a data-quality review queue for spikes/drops.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Dashboard Overview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Tableau Public: NNDSS_Trend_Coverage_Dashboard</a:t>
            </a:r>
            <a:endParaRPr lang="en-US" sz="12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DD48F1-7C92-CEF2-8E82-8483F39F0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380" y="1190095"/>
            <a:ext cx="8819240" cy="4477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Q1 — What is happening over time?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Weekly counts are noisy; direction is interpretable via a 4-week moving average.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2349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Delivered a weekly time series at MMWR week grain.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Compared selected state vs other states’ average for context.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Primary interpretation rule: used a 4-week moving average, not single-week jumps.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Q2 — Where is burden highest right now?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State-only geography eliminates rollup/territory contamination.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2319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Raw “Reporting Area” is mixed grain (totals/regions/states/territories).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Curation enforces U.S. states + D.C. only, with canonical names.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Latest-week map is paired with coverage/validity flags to prevent misread trends.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Q3 — Context vs prior weeks/prior year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Net-change rankings are defensible; percent change requires baseline thresholds.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2160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Trendability varies by state×condition; many series are insufficient.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Separate operational “trend watchlist” from “data-quality review queue” for spikes/drops.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dirty="0"/>
              <a:t>Avoided percent-change rankings without a minimum baseline (small denominators inflate percent change).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Q4 — Condition drivers within a jurisdiction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Explain movement using condition-level driver decomposition (not narrative).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2091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For a selected state, identify top conditions by latest-week burden and recent net change.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Use contribution metrics that handle mixed direction (positive-share or absolute-share).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Quality Controls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Trend conclusions are conditioned on coverage/recency gating.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235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current_week_0: structural zeros used for stable plotting.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Coverage metadata: last available week, weeks observed, weeks behind max.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trend_mode: historical (1y/3y), recent monitoring partial, or insufficient.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Deliverables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3289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BigQuery tables: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tbl_nndss_state_fact (state × condition × week)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tbl_nndss_state_condition_coverage (state × condition gating)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tbl_tableau_export (single Tableau-ready export)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Tableau dashboard: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 — Trend (selected state vs other states average; 4-week MA)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 — Geography snapshot (latest week with coverage flags)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Appendix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830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Selected state vs other states (average)” (point to legend/colors)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Weekly time axis (MMWR week)” (point to x-axis)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4-week moving average used to interpret direction” (point to smoothing/line)</a:t>
            </a:r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D92D6550-4A29-DEDB-FB4A-B7BB0F31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7" y="2590137"/>
            <a:ext cx="7772400" cy="36790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42B4-2E1B-E26B-10E4-1C722003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C7F021-7BDD-8273-E56A-4EB543F83550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FB41DA-6928-AD78-B6F2-5B88EAB92225}"/>
              </a:ext>
            </a:extLst>
          </p:cNvPr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Appendix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9BAB78-1866-6E0B-38BD-4C94F06C66DA}"/>
              </a:ext>
            </a:extLst>
          </p:cNvPr>
          <p:cNvSpPr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Latest available week shown explicitly” (point to Last Available / Week)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Coverage gate: </a:t>
            </a:r>
            <a:r>
              <a:rPr lang="en-US" dirty="0" err="1"/>
              <a:t>Trendable</a:t>
            </a:r>
            <a:r>
              <a:rPr lang="en-US" dirty="0"/>
              <a:t> vs Insufficient coverage” (point to Trend Status/Mode)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Weeks observed (trend eligibility evidence)” (point to Weeks Observed)</a:t>
            </a:r>
            <a:endParaRPr lang="en-US" sz="1800" dirty="0"/>
          </a:p>
        </p:txBody>
      </p:sp>
      <p:pic>
        <p:nvPicPr>
          <p:cNvPr id="7" name="Picture 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FCF8162-2103-C156-C18A-D963FBE9A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7" y="2560320"/>
            <a:ext cx="7772400" cy="35329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92C47-6EEC-7C07-701D-226BFB3F7F2B}"/>
              </a:ext>
            </a:extLst>
          </p:cNvPr>
          <p:cNvSpPr txBox="1"/>
          <p:nvPr/>
        </p:nvSpPr>
        <p:spPr>
          <a:xfrm>
            <a:off x="2077457" y="6182138"/>
            <a:ext cx="80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“Interpret trends only when coverage is sufficient (see </a:t>
            </a:r>
            <a:r>
              <a:rPr lang="en-US" dirty="0" err="1"/>
              <a:t>trend_mode</a:t>
            </a:r>
            <a:r>
              <a:rPr lang="en-US" dirty="0"/>
              <a:t>).”</a:t>
            </a:r>
          </a:p>
        </p:txBody>
      </p:sp>
    </p:spTree>
    <p:extLst>
      <p:ext uri="{BB962C8B-B14F-4D97-AF65-F5344CB8AC3E}">
        <p14:creationId xmlns:p14="http://schemas.microsoft.com/office/powerpoint/2010/main" val="31819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608</Words>
  <Application>Microsoft Macintosh PowerPoint</Application>
  <PresentationFormat>Widescreen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Anthony Mounts</cp:lastModifiedBy>
  <cp:revision>2</cp:revision>
  <dcterms:created xsi:type="dcterms:W3CDTF">2026-03-02T13:59:17Z</dcterms:created>
  <dcterms:modified xsi:type="dcterms:W3CDTF">2026-03-02T15:16:56Z</dcterms:modified>
</cp:coreProperties>
</file>